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73" r:id="rId16"/>
    <p:sldId id="274" r:id="rId17"/>
    <p:sldId id="275" r:id="rId18"/>
    <p:sldId id="276" r:id="rId19"/>
    <p:sldId id="278" r:id="rId20"/>
    <p:sldId id="277" r:id="rId21"/>
    <p:sldId id="269" r:id="rId22"/>
    <p:sldId id="270" r:id="rId23"/>
    <p:sldId id="271" r:id="rId24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3729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A58A4-ADA1-E68B-A267-DBCABC990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468E20-FE0D-0769-08EB-AA1A3FE0B4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E692E0-65A3-6B31-590E-763938620F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4CD6F-97DE-FB79-3670-1209500523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1640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BA6C6-602C-B8DC-4B42-A8322DA77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CF2989-E362-8A70-45D7-2F90D23121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6E44D8-ADAF-B35D-23D4-7920D7EA26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A5163-A461-5917-C60D-577EE4D16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3461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18D2-5ACA-487C-A320-07DF749BA08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411E4-EF8B-4510-83FD-8437FB601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38079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18D2-5ACA-487C-A320-07DF749BA08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411E4-EF8B-4510-83FD-8437FB601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09172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18D2-5ACA-487C-A320-07DF749BA08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411E4-EF8B-4510-83FD-8437FB601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94131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18D2-5ACA-487C-A320-07DF749BA08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411E4-EF8B-4510-83FD-8437FB601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96112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18D2-5ACA-487C-A320-07DF749BA08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411E4-EF8B-4510-83FD-8437FB601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24262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18D2-5ACA-487C-A320-07DF749BA08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411E4-EF8B-4510-83FD-8437FB601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01003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18D2-5ACA-487C-A320-07DF749BA08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411E4-EF8B-4510-83FD-8437FB601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35138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18D2-5ACA-487C-A320-07DF749BA08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411E4-EF8B-4510-83FD-8437FB601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0271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18D2-5ACA-487C-A320-07DF749BA08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411E4-EF8B-4510-83FD-8437FB601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05176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18D2-5ACA-487C-A320-07DF749BA08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411E4-EF8B-4510-83FD-8437FB601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31780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18D2-5ACA-487C-A320-07DF749BA08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411E4-EF8B-4510-83FD-8437FB601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08860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4120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218D2-5ACA-487C-A320-07DF749BA08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411E4-EF8B-4510-83FD-8437FB601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082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github.com/Theertha1507/learnmate-frontend" TargetMode="External"/><Relationship Id="rId5" Type="http://schemas.openxmlformats.org/officeDocument/2006/relationships/hyperlink" Target="https://github.com/Theertha1507/learnmate-backend" TargetMode="Externa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9104" y="1623060"/>
            <a:ext cx="10406888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4400" b="1" u="sng" dirty="0"/>
              <a:t>IBM University Engagement Project Submission</a:t>
            </a:r>
            <a:endParaRPr lang="en-US" sz="4400" u="sng" dirty="0"/>
          </a:p>
        </p:txBody>
      </p:sp>
      <p:sp>
        <p:nvSpPr>
          <p:cNvPr id="3" name="Text 1"/>
          <p:cNvSpPr/>
          <p:nvPr/>
        </p:nvSpPr>
        <p:spPr>
          <a:xfrm>
            <a:off x="731520" y="3337560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LearnMate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645920" y="4759960"/>
            <a:ext cx="8897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 Agentic AI Coach for Personalized Course Pathways, built on IBM Granite via watsonx.ai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22960" y="598932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684941"/>
              </p:ext>
            </p:extLst>
          </p:nvPr>
        </p:nvGraphicFramePr>
        <p:xfrm>
          <a:off x="406218" y="2792326"/>
          <a:ext cx="11376515" cy="3125395"/>
        </p:xfrm>
        <a:graphic>
          <a:graphicData uri="http://schemas.openxmlformats.org/drawingml/2006/table">
            <a:tbl>
              <a:tblPr/>
              <a:tblGrid>
                <a:gridCol w="2619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1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5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9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692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Recent Passport Photo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Number 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61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1B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Theertha P Nair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0" dirty="0">
                          <a:solidFill>
                            <a:srgbClr val="6B62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theerthapnair15@gmail.com</a:t>
                      </a:r>
                      <a:endParaRPr lang="en-US" sz="1200" i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i="0" dirty="0">
                          <a:solidFill>
                            <a:srgbClr val="6B62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7032354794</a:t>
                      </a:r>
                      <a:endParaRPr lang="en-US" sz="1200" i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978408" y="1703862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of Project:  </a:t>
            </a:r>
            <a:r>
              <a:rPr lang="en-US" sz="18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/ EdTech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978408" y="1196909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Title:  </a:t>
            </a:r>
            <a:r>
              <a:rPr lang="en-US" sz="18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 — Agentic AI for Personalized Course Pathways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2092960" y="1658471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  ·  IBM Granite on watsonx.ai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10C088-7E0C-3618-15DE-F61AEEDAF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848" y="3786996"/>
            <a:ext cx="1739616" cy="20607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457200"/>
          </a:xfrm>
          <a:prstGeom prst="ellipse">
            <a:avLst/>
          </a:prstGeom>
          <a:solidFill>
            <a:srgbClr val="1F3B2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75488"/>
            <a:ext cx="6693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1D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Problem Statement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u="sng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Problem Statement No. 12 — Agentic AI for Personalized Course Pathways</a:t>
            </a:r>
            <a:endParaRPr lang="en-US" sz="20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1D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The Challenge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2148840"/>
            <a:ext cx="10908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Students often struggle to identify the right learning path that aligns with their interests and long-term goals, due to the overwhelming number of online courses and a lack of personalized guidance. Generic course catalogs don't adapt to a learner's actual skill level, stated goals, or progress over time.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1D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The Objective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0080" y="4069080"/>
            <a:ext cx="1090879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000" dirty="0">
                <a:solidFill>
                  <a:srgbClr val="1B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as an Agentic AI coach that interacts with the student directly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000" dirty="0">
                <a:solidFill>
                  <a:srgbClr val="1B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stated interests (Frontend Development, Cybersecurity, UI/UX Design, Backend Development)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000" dirty="0">
                <a:solidFill>
                  <a:srgbClr val="1B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the student's current skill level through direct interaction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000" dirty="0">
                <a:solidFill>
                  <a:srgbClr val="1B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build a personalized course roadmap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2000" dirty="0">
                <a:solidFill>
                  <a:srgbClr val="1B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the roadmap over time based on progress and stated preferences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  ·  IBM Granite on watsonx.ai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457200"/>
          </a:xfrm>
          <a:prstGeom prst="ellipse">
            <a:avLst/>
          </a:prstGeom>
          <a:solidFill>
            <a:srgbClr val="1F3B2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75488"/>
            <a:ext cx="6693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28016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LearnMate is an agentic AI coaching system, built on IBM watsonx.ai and IBM Granite, that turns a static course catalog into an adaptive, personalized pathway.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2590038" cy="3291840"/>
          </a:xfrm>
          <a:prstGeom prst="roundRect">
            <a:avLst>
              <a:gd name="adj" fmla="val 2824"/>
            </a:avLst>
          </a:prstGeom>
          <a:solidFill>
            <a:srgbClr val="F5EFE6"/>
          </a:solidFill>
          <a:ln w="12700">
            <a:solidFill>
              <a:srgbClr val="E3D9C4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679067" y="2514600"/>
            <a:ext cx="512064" cy="512064"/>
          </a:xfrm>
          <a:prstGeom prst="ellipse">
            <a:avLst/>
          </a:prstGeom>
          <a:solidFill>
            <a:srgbClr val="B5502E"/>
          </a:solidFill>
          <a:ln/>
        </p:spPr>
      </p:sp>
      <p:sp>
        <p:nvSpPr>
          <p:cNvPr id="8" name="Text 5"/>
          <p:cNvSpPr/>
          <p:nvPr/>
        </p:nvSpPr>
        <p:spPr>
          <a:xfrm>
            <a:off x="1679067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7240" y="3200400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1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 &amp; Assess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3703320"/>
            <a:ext cx="222427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picks an interest track and completes a short self-assessment. LearnMate scores this into a skill level and captures a stated goal in plain language.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12998" y="2286000"/>
            <a:ext cx="2590038" cy="329184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E3D9C4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51985" y="2514600"/>
            <a:ext cx="512064" cy="512064"/>
          </a:xfrm>
          <a:prstGeom prst="ellipse">
            <a:avLst/>
          </a:prstGeom>
          <a:solidFill>
            <a:srgbClr val="B5502E"/>
          </a:solidFill>
          <a:ln/>
        </p:spPr>
      </p:sp>
      <p:sp>
        <p:nvSpPr>
          <p:cNvPr id="13" name="Text 10"/>
          <p:cNvSpPr/>
          <p:nvPr/>
        </p:nvSpPr>
        <p:spPr>
          <a:xfrm>
            <a:off x="4451985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550158" y="3200400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1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(RAG)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3595878" y="3703320"/>
            <a:ext cx="222427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retrieval layer looks up the student's track in a structured course knowledge base, filtering by prerequisites already completed — grounding the agent's reasoning in real course data.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85916" y="2286000"/>
            <a:ext cx="2590038" cy="3291840"/>
          </a:xfrm>
          <a:prstGeom prst="roundRect">
            <a:avLst>
              <a:gd name="adj" fmla="val 2824"/>
            </a:avLst>
          </a:prstGeom>
          <a:solidFill>
            <a:srgbClr val="F5EFE6"/>
          </a:solidFill>
          <a:ln w="12700">
            <a:solidFill>
              <a:srgbClr val="E3D9C4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224903" y="2514600"/>
            <a:ext cx="512064" cy="512064"/>
          </a:xfrm>
          <a:prstGeom prst="ellipse">
            <a:avLst/>
          </a:prstGeom>
          <a:solidFill>
            <a:srgbClr val="B5502E"/>
          </a:solidFill>
          <a:ln/>
        </p:spPr>
      </p:sp>
      <p:sp>
        <p:nvSpPr>
          <p:cNvPr id="18" name="Text 15"/>
          <p:cNvSpPr/>
          <p:nvPr/>
        </p:nvSpPr>
        <p:spPr>
          <a:xfrm>
            <a:off x="7224903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23076" y="3200400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1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 (Granite)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368796" y="3703320"/>
            <a:ext cx="222427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Granite, called via watsonx.ai's chat endpoint, generates a personalized explanation grounded in the retrieved courses, the assessed level, and the stated goal.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958834" y="2286000"/>
            <a:ext cx="2590038" cy="329184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E3D9C4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997821" y="2514600"/>
            <a:ext cx="512064" cy="512064"/>
          </a:xfrm>
          <a:prstGeom prst="ellipse">
            <a:avLst/>
          </a:prstGeom>
          <a:solidFill>
            <a:srgbClr val="B5502E"/>
          </a:solidFill>
          <a:ln/>
        </p:spPr>
      </p:sp>
      <p:sp>
        <p:nvSpPr>
          <p:cNvPr id="23" name="Text 20"/>
          <p:cNvSpPr/>
          <p:nvPr/>
        </p:nvSpPr>
        <p:spPr>
          <a:xfrm>
            <a:off x="9997821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9095994" y="3200400"/>
            <a:ext cx="23157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1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 &amp; Replan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9141714" y="3703320"/>
            <a:ext cx="222427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student marks courses complete or restates their goal, the agent re-runs its perceive-decide-act loop — the roadmap itself changes, not just its wording.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  ·  IBM Granite on watsonx.ai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457200"/>
          </a:xfrm>
          <a:prstGeom prst="ellipse">
            <a:avLst/>
          </a:prstGeom>
          <a:solidFill>
            <a:srgbClr val="1F3B2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75488"/>
            <a:ext cx="6693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Used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D9C4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41248" y="1572768"/>
            <a:ext cx="384048" cy="384048"/>
          </a:xfrm>
          <a:prstGeom prst="ellipse">
            <a:avLst/>
          </a:prstGeom>
          <a:solidFill>
            <a:srgbClr val="1F3B2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100" y="1672620"/>
            <a:ext cx="184343" cy="1843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53312" y="1517904"/>
            <a:ext cx="2538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Granite (granite-4-h-small)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68680" y="2148840"/>
            <a:ext cx="2996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powering reasoning, personalization, and natural-language guidance generation.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367784" y="137160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D9C4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68952" y="1572768"/>
            <a:ext cx="384048" cy="384048"/>
          </a:xfrm>
          <a:prstGeom prst="ellipse">
            <a:avLst/>
          </a:prstGeom>
          <a:solidFill>
            <a:srgbClr val="1F3B2C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804" y="1672620"/>
            <a:ext cx="184343" cy="1843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81016" y="1517904"/>
            <a:ext cx="2538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watsonx.ai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596384" y="2148840"/>
            <a:ext cx="2996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 platform — the chat completions endpoint used to call Granite from the backend.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095488" y="137160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D9C4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96656" y="1572768"/>
            <a:ext cx="384048" cy="384048"/>
          </a:xfrm>
          <a:prstGeom prst="ellipse">
            <a:avLst/>
          </a:prstGeom>
          <a:solidFill>
            <a:srgbClr val="1F3B2C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6508" y="1672620"/>
            <a:ext cx="184343" cy="18434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808720" y="1517904"/>
            <a:ext cx="2538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Cloud Lite (WML Runtime)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8324088" y="2148840"/>
            <a:ext cx="2996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Watson Machine Learning Runtime instance that hosts and serves the Granite model to the project.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40080" y="361188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D9C4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1" name="Shape 15"/>
          <p:cNvSpPr/>
          <p:nvPr/>
        </p:nvSpPr>
        <p:spPr>
          <a:xfrm>
            <a:off x="841248" y="3813048"/>
            <a:ext cx="384048" cy="384048"/>
          </a:xfrm>
          <a:prstGeom prst="ellipse">
            <a:avLst/>
          </a:prstGeom>
          <a:solidFill>
            <a:srgbClr val="1F3B2C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100" y="3912900"/>
            <a:ext cx="184343" cy="18434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53312" y="3758184"/>
            <a:ext cx="2538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 Generation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868680" y="4389120"/>
            <a:ext cx="2996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knowledge base of courses and prerequisites, filtered and retrieved before every Granite call — grounding responses in real data.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367784" y="361188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D9C4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568952" y="3813048"/>
            <a:ext cx="384048" cy="384048"/>
          </a:xfrm>
          <a:prstGeom prst="ellipse">
            <a:avLst/>
          </a:prstGeom>
          <a:solidFill>
            <a:srgbClr val="1F3B2C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804" y="3912900"/>
            <a:ext cx="184343" cy="18434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081016" y="3758184"/>
            <a:ext cx="2538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+ Express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4596384" y="4389120"/>
            <a:ext cx="2996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REST API: agent logic, retrieval layer, and the watsonx.ai integration.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8095488" y="3611880"/>
            <a:ext cx="3453384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D9C4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296656" y="3813048"/>
            <a:ext cx="384048" cy="384048"/>
          </a:xfrm>
          <a:prstGeom prst="ellipse">
            <a:avLst/>
          </a:prstGeom>
          <a:solidFill>
            <a:srgbClr val="1F3B2C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6508" y="3912900"/>
            <a:ext cx="184343" cy="184343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808720" y="3758184"/>
            <a:ext cx="2538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1350" dirty="0"/>
          </a:p>
        </p:txBody>
      </p:sp>
      <p:sp>
        <p:nvSpPr>
          <p:cNvPr id="34" name="Text 25"/>
          <p:cNvSpPr/>
          <p:nvPr/>
        </p:nvSpPr>
        <p:spPr>
          <a:xfrm>
            <a:off x="8324088" y="4389120"/>
            <a:ext cx="2996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dashboard — skill assessment flow, live roadmap display, and progress tracking.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  ·  IBM Granite on watsonx.ai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457200"/>
          </a:xfrm>
          <a:prstGeom prst="ellipse">
            <a:avLst/>
          </a:prstGeom>
          <a:solidFill>
            <a:srgbClr val="1F3B2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75488"/>
            <a:ext cx="8522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1D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System Components Used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14173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D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25880" y="1417320"/>
            <a:ext cx="10222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B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Assessment UI  —  </a:t>
            </a:r>
            <a:r>
              <a:rPr lang="en-US" sz="20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 presenting a short, scored quiz that classifies the student into beginner / intermediate / advanced before any recommendation is generated.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325880" y="2176272"/>
            <a:ext cx="10222992" cy="0"/>
          </a:xfrm>
          <a:prstGeom prst="line">
            <a:avLst/>
          </a:prstGeom>
          <a:noFill/>
          <a:ln w="9525">
            <a:solidFill>
              <a:srgbClr val="E3D9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2402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D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325880" y="2240280"/>
            <a:ext cx="10222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B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Module  —  </a:t>
            </a:r>
            <a:r>
              <a:rPr lang="en-US" sz="20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retriever.js — looks up the selected track in the course knowledge base and filters courses by prerequisite completion (the RAG retrieval step).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325880" y="2999232"/>
            <a:ext cx="10222992" cy="0"/>
          </a:xfrm>
          <a:prstGeom prst="line">
            <a:avLst/>
          </a:prstGeom>
          <a:noFill/>
          <a:ln w="9525">
            <a:solidFill>
              <a:srgbClr val="E3D9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0632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D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325880" y="3063240"/>
            <a:ext cx="10222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B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  —  </a:t>
            </a:r>
            <a:r>
              <a:rPr lang="en-US" sz="20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agent.js — the perceive-decide-act cycle: reads student state, applies assessed level and stated-preference reordering, then calls Granite for grounded reasoning.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1325880" y="3822192"/>
            <a:ext cx="10222992" cy="0"/>
          </a:xfrm>
          <a:prstGeom prst="line">
            <a:avLst/>
          </a:prstGeom>
          <a:noFill/>
          <a:ln w="9525">
            <a:solidFill>
              <a:srgbClr val="E3D9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38862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D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325880" y="3886200"/>
            <a:ext cx="10222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B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Engine  —  </a:t>
            </a:r>
            <a:r>
              <a:rPr lang="en-US" sz="20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urgency vs. depth signals in the student's stated goal and reorders — and resizes — the recommended course set accordingly.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1325880" y="4645152"/>
            <a:ext cx="10222992" cy="0"/>
          </a:xfrm>
          <a:prstGeom prst="line">
            <a:avLst/>
          </a:prstGeom>
          <a:noFill/>
          <a:ln w="9525">
            <a:solidFill>
              <a:srgbClr val="E3D9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47091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D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325880" y="4709160"/>
            <a:ext cx="10222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B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watsonx.ai Chat Client  —  </a:t>
            </a:r>
            <a:r>
              <a:rPr lang="en-US" sz="20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watsonx.js — authenticates via IBM IAM, calls the Granite chat completions endpoint with the retrieved courses and student context.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1325880" y="5468112"/>
            <a:ext cx="10222992" cy="0"/>
          </a:xfrm>
          <a:prstGeom prst="line">
            <a:avLst/>
          </a:prstGeom>
          <a:noFill/>
          <a:ln w="9525">
            <a:solidFill>
              <a:srgbClr val="E3D9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55321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D9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325880" y="5532120"/>
            <a:ext cx="10222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B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Dashboard  —  </a:t>
            </a:r>
            <a:r>
              <a:rPr lang="en-US" sz="20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rendering the live recommendation set, assessed level, guidance text, and progress — with “Mark complete” triggering a live replan.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  ·  IBM Granite on watsonx.ai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457200"/>
          </a:xfrm>
          <a:prstGeom prst="ellipse">
            <a:avLst/>
          </a:prstGeom>
          <a:solidFill>
            <a:srgbClr val="1F3B2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75488"/>
            <a:ext cx="6693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Workflow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30352" y="182880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3D9C4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1828800"/>
            <a:ext cx="1271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selects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track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1947672" y="2308860"/>
            <a:ext cx="201168" cy="0"/>
          </a:xfrm>
          <a:prstGeom prst="line">
            <a:avLst/>
          </a:prstGeom>
          <a:noFill/>
          <a:ln w="19050">
            <a:solidFill>
              <a:srgbClr val="B5502E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148840" y="182880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3D9C4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221992" y="1828800"/>
            <a:ext cx="1271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assessment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(quiz → level)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566160" y="2308860"/>
            <a:ext cx="201168" cy="0"/>
          </a:xfrm>
          <a:prstGeom prst="line">
            <a:avLst/>
          </a:prstGeom>
          <a:noFill/>
          <a:ln w="19050">
            <a:solidFill>
              <a:srgbClr val="B5502E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767328" y="182880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3D9C4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840480" y="1828800"/>
            <a:ext cx="1271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goal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(preference)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184648" y="2308860"/>
            <a:ext cx="201168" cy="0"/>
          </a:xfrm>
          <a:prstGeom prst="line">
            <a:avLst/>
          </a:prstGeom>
          <a:noFill/>
          <a:ln w="19050">
            <a:solidFill>
              <a:srgbClr val="B5502E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385816" y="182880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3D9C4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458968" y="1828800"/>
            <a:ext cx="1271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(RAG lookup)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803136" y="2308860"/>
            <a:ext cx="201168" cy="0"/>
          </a:xfrm>
          <a:prstGeom prst="line">
            <a:avLst/>
          </a:prstGeom>
          <a:noFill/>
          <a:ln w="19050">
            <a:solidFill>
              <a:srgbClr val="B5502E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004304" y="182880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3D9C4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077456" y="1828800"/>
            <a:ext cx="1271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reordering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421624" y="2308860"/>
            <a:ext cx="201168" cy="0"/>
          </a:xfrm>
          <a:prstGeom prst="line">
            <a:avLst/>
          </a:prstGeom>
          <a:noFill/>
          <a:ln w="19050">
            <a:solidFill>
              <a:srgbClr val="B5502E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8622792" y="182880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1F3B2C"/>
          </a:solidFill>
          <a:ln w="15875">
            <a:solidFill>
              <a:srgbClr val="1F3B2C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695944" y="1828800"/>
            <a:ext cx="1271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Granite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(watsonx.ai)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10040112" y="2308860"/>
            <a:ext cx="201168" cy="0"/>
          </a:xfrm>
          <a:prstGeom prst="line">
            <a:avLst/>
          </a:prstGeom>
          <a:noFill/>
          <a:ln w="19050">
            <a:solidFill>
              <a:srgbClr val="B5502E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10241280" y="1828800"/>
            <a:ext cx="14173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3D9C4"/>
            </a:solidFill>
            <a:prstDash val="solid"/>
          </a:ln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10314432" y="1828800"/>
            <a:ext cx="1271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B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10949940" y="2926080"/>
            <a:ext cx="0" cy="1005840"/>
          </a:xfrm>
          <a:prstGeom prst="line">
            <a:avLst/>
          </a:prstGeom>
          <a:noFill/>
          <a:ln w="19050">
            <a:solidFill>
              <a:srgbClr val="96731E"/>
            </a:solidFill>
            <a:prstDash val="dash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2857500" y="3931920"/>
            <a:ext cx="7891272" cy="0"/>
          </a:xfrm>
          <a:prstGeom prst="line">
            <a:avLst/>
          </a:prstGeom>
          <a:noFill/>
          <a:ln w="19050">
            <a:solidFill>
              <a:srgbClr val="96731E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2857500" y="2926080"/>
            <a:ext cx="0" cy="1005840"/>
          </a:xfrm>
          <a:prstGeom prst="line">
            <a:avLst/>
          </a:prstGeom>
          <a:noFill/>
          <a:ln w="19050">
            <a:solidFill>
              <a:srgbClr val="96731E"/>
            </a:solidFill>
            <a:prstDash val="dash"/>
            <a:tailEnd type="triangle"/>
          </a:ln>
        </p:spPr>
      </p:sp>
      <p:sp>
        <p:nvSpPr>
          <p:cNvPr id="28" name="Text 25"/>
          <p:cNvSpPr/>
          <p:nvPr/>
        </p:nvSpPr>
        <p:spPr>
          <a:xfrm>
            <a:off x="2857500" y="4023360"/>
            <a:ext cx="7891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67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marks a course complete → agent re-runs the loop and replans the roadmap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822960" y="512064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holds state across turns — assessed level, completed courses, and stated goal — rather than answering each request from scratch. This loop is what makes LearnMate an agent, not a one-shot chatbot.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  ·  IBM Granite on watsonx.ai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457200"/>
          </a:xfrm>
          <a:prstGeom prst="ellipse">
            <a:avLst/>
          </a:prstGeom>
          <a:solidFill>
            <a:srgbClr val="1F3B2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75488"/>
            <a:ext cx="6693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1D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Architecture Blueprint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45236" y="1554480"/>
            <a:ext cx="3200400" cy="42062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3D9C4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73836" y="17556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73836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5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deployed on Vercel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973836" y="2606040"/>
            <a:ext cx="2743200" cy="0"/>
          </a:xfrm>
          <a:prstGeom prst="line">
            <a:avLst/>
          </a:prstGeom>
          <a:noFill/>
          <a:ln w="12700">
            <a:solidFill>
              <a:srgbClr val="E3D9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73836" y="27889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assessment UI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selector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dashboard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945636" y="3657600"/>
            <a:ext cx="548640" cy="0"/>
          </a:xfrm>
          <a:prstGeom prst="line">
            <a:avLst/>
          </a:prstGeom>
          <a:noFill/>
          <a:ln w="25400">
            <a:solidFill>
              <a:srgbClr val="B5502E"/>
            </a:solidFill>
            <a:prstDash val="solid"/>
            <a:headEnd type="triangl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494276" y="1554480"/>
            <a:ext cx="3200400" cy="420624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3D9C4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22876" y="17556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722876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5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· deployed on Render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22876" y="2606040"/>
            <a:ext cx="2743200" cy="0"/>
          </a:xfrm>
          <a:prstGeom prst="line">
            <a:avLst/>
          </a:prstGeom>
          <a:noFill/>
          <a:ln w="12700">
            <a:solidFill>
              <a:srgbClr val="E3D9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2876" y="27889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layer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(RAG)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engine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694676" y="3657600"/>
            <a:ext cx="548640" cy="0"/>
          </a:xfrm>
          <a:prstGeom prst="line">
            <a:avLst/>
          </a:prstGeom>
          <a:noFill/>
          <a:ln w="25400">
            <a:solidFill>
              <a:srgbClr val="B5502E"/>
            </a:solidFill>
            <a:prstDash val="solid"/>
            <a:headEnd type="triangl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8243316" y="1554480"/>
            <a:ext cx="3200400" cy="4206240"/>
          </a:xfrm>
          <a:prstGeom prst="roundRect">
            <a:avLst>
              <a:gd name="adj" fmla="val 2286"/>
            </a:avLst>
          </a:prstGeom>
          <a:solidFill>
            <a:srgbClr val="1F3B2C"/>
          </a:solidFill>
          <a:ln w="12700">
            <a:solidFill>
              <a:srgbClr val="1F3B2C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471916" y="17556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Cloud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471916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9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Cloud Lite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471916" y="2606040"/>
            <a:ext cx="2743200" cy="0"/>
          </a:xfrm>
          <a:prstGeom prst="line">
            <a:avLst/>
          </a:prstGeom>
          <a:noFill/>
          <a:ln w="12700">
            <a:solidFill>
              <a:srgbClr val="3A544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71916" y="27889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watsonx.ai chat endpoint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Granite (granite-4-h-small)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 Machine Learning Runtime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authentication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  ·  IBM Granite on watsonx.ai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457200"/>
          </a:xfrm>
          <a:prstGeom prst="ellipse">
            <a:avLst/>
          </a:prstGeom>
          <a:solidFill>
            <a:srgbClr val="1F3B2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75488"/>
            <a:ext cx="8522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1D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Role of Agentic AI in the Solution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12801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6B6255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Agentic AI is what separates LearnMate from a static recommendation list or a single-turn chatbot. It gives the system memory, judgment, and the ability to act differently as circumstances change.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651760"/>
            <a:ext cx="2555748" cy="3108960"/>
          </a:xfrm>
          <a:prstGeom prst="roundRect">
            <a:avLst>
              <a:gd name="adj" fmla="val 5900"/>
            </a:avLst>
          </a:prstGeom>
          <a:solidFill>
            <a:srgbClr val="1F3B2C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848529"/>
            <a:ext cx="2189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Perceives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22960" y="2971800"/>
            <a:ext cx="21899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D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student's current state each time it runs and assess level, completed courses, and stated goal rather than treating every request as brand new.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24428" y="2679192"/>
            <a:ext cx="2555748" cy="3108960"/>
          </a:xfrm>
          <a:prstGeom prst="roundRect">
            <a:avLst>
              <a:gd name="adj" fmla="val 2862"/>
            </a:avLst>
          </a:prstGeom>
          <a:solidFill>
            <a:srgbClr val="F5EFE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7"/>
          <p:cNvSpPr/>
          <p:nvPr/>
        </p:nvSpPr>
        <p:spPr>
          <a:xfrm>
            <a:off x="3634481" y="2848529"/>
            <a:ext cx="2189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1D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Decides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607308" y="2971800"/>
            <a:ext cx="21899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eligible courses via RAG, then reorders and resizes the candidate set based on detected urgency or depth signals in the student's own words.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29480" y="2632006"/>
            <a:ext cx="2555748" cy="3108960"/>
          </a:xfrm>
          <a:prstGeom prst="roundRect">
            <a:avLst>
              <a:gd name="adj" fmla="val 2862"/>
            </a:avLst>
          </a:prstGeom>
          <a:solidFill>
            <a:srgbClr val="1F3B2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3" name="Text 10"/>
          <p:cNvSpPr/>
          <p:nvPr/>
        </p:nvSpPr>
        <p:spPr>
          <a:xfrm>
            <a:off x="6412360" y="2848529"/>
            <a:ext cx="2189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Acts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391656" y="2971800"/>
            <a:ext cx="21899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D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IBM Granite grounded in the retrieved, reordered courses to produce a personalized explanation and  not a generic template response.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988811" y="2632006"/>
            <a:ext cx="2555748" cy="3108960"/>
          </a:xfrm>
          <a:prstGeom prst="roundRect">
            <a:avLst>
              <a:gd name="adj" fmla="val 2862"/>
            </a:avLst>
          </a:prstGeom>
          <a:solidFill>
            <a:srgbClr val="F5EFE6"/>
          </a:solidFill>
          <a:ln/>
        </p:spPr>
      </p:sp>
      <p:sp>
        <p:nvSpPr>
          <p:cNvPr id="16" name="Text 13"/>
          <p:cNvSpPr/>
          <p:nvPr/>
        </p:nvSpPr>
        <p:spPr>
          <a:xfrm>
            <a:off x="9133332" y="2848529"/>
            <a:ext cx="21899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1D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Adapts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176004" y="2971800"/>
            <a:ext cx="218998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Re-runs the entire loop whenever the student marks progress or restates their goal, producing a genuinely different roadmap, not just different wording.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  ·  IBM Granite on watsonx.ai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457200"/>
          </a:xfrm>
          <a:prstGeom prst="ellipse">
            <a:avLst/>
          </a:prstGeom>
          <a:solidFill>
            <a:srgbClr val="1F3B2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75488"/>
            <a:ext cx="6693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Usage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10896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398264" y="224028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398264" y="310896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56448" y="2240280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8156448" y="310896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8952" y="17373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Prompt  →  After Prompt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2596896"/>
            <a:ext cx="10908792" cy="34838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D9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4709160"/>
            <a:ext cx="10908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  ·  IBM Granite on watsonx.ai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F1D9518-CC50-0ED7-FAA6-CC1B688469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712855"/>
            <a:ext cx="3026664" cy="336790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8D06ADC-8AC2-13EA-47ED-F9BC86291E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3971" y="2662100"/>
            <a:ext cx="3188509" cy="35301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457200"/>
          </a:xfrm>
          <a:prstGeom prst="ellipse">
            <a:avLst/>
          </a:prstGeom>
          <a:solidFill>
            <a:srgbClr val="1F3B2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75488"/>
            <a:ext cx="6693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1D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Novelty and Uniqueness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10908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course-recommendation tools stop at retrieval. LearnMate closes the loop — what it recommends genuinely changes based on who you are and what you say you need.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365760" cy="365760"/>
          </a:xfrm>
          <a:prstGeom prst="ellipse">
            <a:avLst/>
          </a:prstGeom>
          <a:solidFill>
            <a:srgbClr val="1F3B2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8" y="2152498"/>
            <a:ext cx="175565" cy="1755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2011680"/>
            <a:ext cx="48143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Skill Assessment
</a:t>
            </a:r>
            <a:r>
              <a:rPr lang="en-US" sz="115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scored quiz actually changes the starting point of the roadmap — it doesn't just decorate a fixed answer.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231636" y="2057400"/>
            <a:ext cx="365760" cy="365760"/>
          </a:xfrm>
          <a:prstGeom prst="ellipse">
            <a:avLst/>
          </a:prstGeom>
          <a:solidFill>
            <a:srgbClr val="1F3B2C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734" y="2152498"/>
            <a:ext cx="175565" cy="17556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34556" y="2011680"/>
            <a:ext cx="48143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Preference-Driven Reordering
</a:t>
            </a:r>
            <a:r>
              <a:rPr lang="en-US" sz="115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Stating “placement in 3 months” vs. “I want to master this” produces a different set and count of recommended courses — verified, not assumed.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640080" y="3291840"/>
            <a:ext cx="365760" cy="365760"/>
          </a:xfrm>
          <a:prstGeom prst="ellipse">
            <a:avLst/>
          </a:prstGeom>
          <a:solidFill>
            <a:srgbClr val="1F3B2C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8" y="3386938"/>
            <a:ext cx="175565" cy="17556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3246120"/>
            <a:ext cx="48143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Not Generic
</a:t>
            </a:r>
            <a:r>
              <a:rPr lang="en-US" sz="115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explanation from Granite is grounded in retrieved, prerequisite-filtered course data — RAG before generation, every time.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6231636" y="3291840"/>
            <a:ext cx="365760" cy="365760"/>
          </a:xfrm>
          <a:prstGeom prst="ellipse">
            <a:avLst/>
          </a:prstGeom>
          <a:solidFill>
            <a:srgbClr val="1F3B2C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734" y="3386938"/>
            <a:ext cx="175565" cy="17556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34556" y="3246120"/>
            <a:ext cx="48143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Replanning
</a:t>
            </a:r>
            <a:r>
              <a:rPr lang="en-US" sz="115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 a course complete re-runs the full agent loop, not a cached response — real state, real adaptation.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1F3B2C"/>
          </a:solidFill>
          <a:ln/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8" y="4621378"/>
            <a:ext cx="175565" cy="17556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43000" y="4480560"/>
            <a:ext cx="48143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Deployed
</a:t>
            </a:r>
            <a:r>
              <a:rPr lang="en-US" sz="115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the public internet (Vercel + Render), backed by a working IBM Cloud Lite + Granite integration — not a local-only demo.</a:t>
            </a:r>
            <a:endParaRPr lang="en-US" sz="1350" dirty="0"/>
          </a:p>
        </p:txBody>
      </p:sp>
      <p:sp>
        <p:nvSpPr>
          <p:cNvPr id="21" name="Shape 13"/>
          <p:cNvSpPr/>
          <p:nvPr/>
        </p:nvSpPr>
        <p:spPr>
          <a:xfrm>
            <a:off x="6231636" y="4526280"/>
            <a:ext cx="365760" cy="365760"/>
          </a:xfrm>
          <a:prstGeom prst="ellipse">
            <a:avLst/>
          </a:prstGeom>
          <a:solidFill>
            <a:srgbClr val="1F3B2C"/>
          </a:solidFill>
          <a:ln/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734" y="4621378"/>
            <a:ext cx="175565" cy="175565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734556" y="4480560"/>
            <a:ext cx="48143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1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Scratch
</a:t>
            </a:r>
            <a:r>
              <a:rPr lang="en-US" sz="115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Node.js/Express agent and React dashboard — no low-code orchestration layer standing in for the reasoning.</a:t>
            </a:r>
            <a:endParaRPr lang="en-US" sz="1350" dirty="0"/>
          </a:p>
        </p:txBody>
      </p:sp>
      <p:sp>
        <p:nvSpPr>
          <p:cNvPr id="24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  ·  IBM Granite on watsonx.ai</a:t>
            </a:r>
            <a:endParaRPr lang="en-US" sz="900" dirty="0"/>
          </a:p>
        </p:txBody>
      </p:sp>
      <p:sp>
        <p:nvSpPr>
          <p:cNvPr id="25" name="Text 16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9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457200"/>
          </a:xfrm>
          <a:prstGeom prst="ellipse">
            <a:avLst/>
          </a:prstGeom>
          <a:solidFill>
            <a:srgbClr val="B5502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4630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(agent, RAG retrieval, watsonx.ai integration)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10908792" cy="685800"/>
          </a:xfrm>
          <a:prstGeom prst="roundRect">
            <a:avLst>
              <a:gd name="adj" fmla="val 8000"/>
            </a:avLst>
          </a:prstGeom>
          <a:solidFill>
            <a:srgbClr val="1F3B2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984248"/>
            <a:ext cx="384048" cy="384048"/>
          </a:xfrm>
          <a:prstGeom prst="rect">
            <a:avLst/>
          </a:prstGeom>
        </p:spPr>
      </p:pic>
      <p:sp>
        <p:nvSpPr>
          <p:cNvPr id="8" name="Text 4">
            <a:hlinkClick r:id="rId5"/>
          </p:cNvPr>
          <p:cNvSpPr/>
          <p:nvPr/>
        </p:nvSpPr>
        <p:spPr>
          <a:xfrm>
            <a:off x="1371600" y="1828800"/>
            <a:ext cx="10177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github.com/Theertha1507/learnmate-backend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40080" y="27432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 dashboard, skill assessment UI)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3108960"/>
            <a:ext cx="10908792" cy="685800"/>
          </a:xfrm>
          <a:prstGeom prst="roundRect">
            <a:avLst>
              <a:gd name="adj" fmla="val 8000"/>
            </a:avLst>
          </a:prstGeom>
          <a:solidFill>
            <a:srgbClr val="1F3B2C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264408"/>
            <a:ext cx="384048" cy="384048"/>
          </a:xfrm>
          <a:prstGeom prst="rect">
            <a:avLst/>
          </a:prstGeom>
        </p:spPr>
      </p:pic>
      <p:sp>
        <p:nvSpPr>
          <p:cNvPr id="12" name="Text 7">
            <a:hlinkClick r:id="rId6"/>
          </p:cNvPr>
          <p:cNvSpPr/>
          <p:nvPr/>
        </p:nvSpPr>
        <p:spPr>
          <a:xfrm>
            <a:off x="1371600" y="3108960"/>
            <a:ext cx="10177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github.com/Theertha1507/learnmate-frontend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640080" y="4114800"/>
            <a:ext cx="10908792" cy="1737360"/>
          </a:xfrm>
          <a:prstGeom prst="rect">
            <a:avLst/>
          </a:prstGeom>
          <a:solidFill>
            <a:srgbClr val="24382B"/>
          </a:solidFill>
          <a:ln/>
        </p:spPr>
      </p:sp>
      <p:sp>
        <p:nvSpPr>
          <p:cNvPr id="14" name="Text 9"/>
          <p:cNvSpPr/>
          <p:nvPr/>
        </p:nvSpPr>
        <p:spPr>
          <a:xfrm>
            <a:off x="914400" y="4251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submitting, confirm each repo includes: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914400" y="4617720"/>
            <a:ext cx="10360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D9D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with setup instructions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D9D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presentation (.pptx)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D9D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PDF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D9D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Working, tested GitHub URL (public, README enabled)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  ·  IBM Granite on watsonx.ai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457200"/>
          </a:xfrm>
          <a:prstGeom prst="ellipse">
            <a:avLst/>
          </a:prstGeom>
          <a:solidFill>
            <a:srgbClr val="1F3B2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75488"/>
            <a:ext cx="6693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5317236" cy="2103120"/>
          </a:xfrm>
          <a:prstGeom prst="roundRect">
            <a:avLst>
              <a:gd name="adj" fmla="val 3478"/>
            </a:avLst>
          </a:prstGeom>
          <a:solidFill>
            <a:srgbClr val="F5EFE6"/>
          </a:solidFill>
          <a:ln w="12700">
            <a:solidFill>
              <a:srgbClr val="E3D9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1645920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Embedding-Based RAG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148840"/>
            <a:ext cx="48600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structured-JSON filtering to a real vector store, so free-text goals can match against a much larger, less rigidly-tagged course catalog — enabling richer, more flexible retrieval as the knowledge base grows.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31636" y="1463040"/>
            <a:ext cx="5317236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D9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60236" y="1645920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Live Course Platform Integration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60236" y="2148840"/>
            <a:ext cx="48600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real providers (Coursera, freeCodeCamp, YouTube APIs) so recommendations reflect live availability, ratings, and freshness rather than a hand-curated static list.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3794760"/>
            <a:ext cx="5317236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D9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3977640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Voice &amp; Multilingual Interaction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68680" y="4480560"/>
            <a:ext cx="48600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assessment and guidance flow to support voice input and regional languages, widening access for students less comfortable in English-only text interfaces.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31636" y="3794760"/>
            <a:ext cx="5317236" cy="2103120"/>
          </a:xfrm>
          <a:prstGeom prst="roundRect">
            <a:avLst>
              <a:gd name="adj" fmla="val 3478"/>
            </a:avLst>
          </a:prstGeom>
          <a:solidFill>
            <a:srgbClr val="F5EFE6"/>
          </a:solidFill>
          <a:ln w="12700">
            <a:solidFill>
              <a:srgbClr val="E3D9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60236" y="3977640"/>
            <a:ext cx="4860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Institutional / LMS Integration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60236" y="4480560"/>
            <a:ext cx="48600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LearnMate as a plug-in for college LMS platforms, so faculty can track cohort-wide skill progression alongside individual adaptive pathways.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  ·  IBM Granite on watsonx.ai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572262-1FAD-2AAE-801A-A9C9C76F6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43" y="110954"/>
            <a:ext cx="11951314" cy="663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148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EB3D7B-C92A-A506-C822-88B702404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0" y="196684"/>
            <a:ext cx="12065620" cy="646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3787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A45D08-69BC-818F-2971-5AADE97B4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7" y="206209"/>
            <a:ext cx="11970365" cy="644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377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4A984C-3436-758C-363A-A54586E9A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209" y="139531"/>
            <a:ext cx="11303581" cy="6578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456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1F912D-B495-F2A9-2B77-C62C56A4E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1" y="44276"/>
            <a:ext cx="11830658" cy="676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311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2B654-A9D7-F13E-8129-F5983A542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A5297D4-0B1A-0584-2D72-7C92F4E4083C}"/>
              </a:ext>
            </a:extLst>
          </p:cNvPr>
          <p:cNvSpPr/>
          <p:nvPr/>
        </p:nvSpPr>
        <p:spPr>
          <a:xfrm>
            <a:off x="640080" y="502920"/>
            <a:ext cx="457200" cy="457200"/>
          </a:xfrm>
          <a:prstGeom prst="ellipse">
            <a:avLst/>
          </a:prstGeom>
          <a:solidFill>
            <a:srgbClr val="1F3B2C"/>
          </a:solidFill>
          <a:ln/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1355501-1360-A45A-48B1-36E7DF277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"/>
            <a:ext cx="219456" cy="219456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B689496B-0D56-A0CC-72E3-9CCD2459E300}"/>
              </a:ext>
            </a:extLst>
          </p:cNvPr>
          <p:cNvSpPr/>
          <p:nvPr/>
        </p:nvSpPr>
        <p:spPr>
          <a:xfrm>
            <a:off x="1261872" y="475488"/>
            <a:ext cx="6693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1D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Certificates Earned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F0B661E-541A-16A7-4C21-6DA4A96DE058}"/>
              </a:ext>
            </a:extLst>
          </p:cNvPr>
          <p:cNvSpPr/>
          <p:nvPr/>
        </p:nvSpPr>
        <p:spPr>
          <a:xfrm>
            <a:off x="64008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6AFFFAE-6228-CB37-A605-F08ABC881DBF}"/>
              </a:ext>
            </a:extLst>
          </p:cNvPr>
          <p:cNvSpPr/>
          <p:nvPr/>
        </p:nvSpPr>
        <p:spPr>
          <a:xfrm>
            <a:off x="640080" y="1965960"/>
            <a:ext cx="109087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19083A6-A4C4-21BE-2194-5F3E3783D794}"/>
              </a:ext>
            </a:extLst>
          </p:cNvPr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  ·  IBM Granite on watsonx.ai</a:t>
            </a:r>
            <a:endParaRPr lang="en-US" sz="9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FF7DDC4-F786-0EA6-9A46-35350BF81530}"/>
              </a:ext>
            </a:extLst>
          </p:cNvPr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6D6785-9E47-925B-008A-41CE48D76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6632" y="1121434"/>
            <a:ext cx="7353678" cy="5261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530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A4A57-E71C-1E44-E1C3-645CA959A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C720CD9-C9A0-C01F-7033-3AD44ADF29F7}"/>
              </a:ext>
            </a:extLst>
          </p:cNvPr>
          <p:cNvSpPr/>
          <p:nvPr/>
        </p:nvSpPr>
        <p:spPr>
          <a:xfrm>
            <a:off x="640080" y="502920"/>
            <a:ext cx="457200" cy="457200"/>
          </a:xfrm>
          <a:prstGeom prst="ellipse">
            <a:avLst/>
          </a:prstGeom>
          <a:solidFill>
            <a:srgbClr val="1F3B2C"/>
          </a:solidFill>
          <a:ln/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D4A320BA-5C0A-D9BF-5F00-BBEDDD350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"/>
            <a:ext cx="219456" cy="219456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80D8277-F641-0F02-34E2-D262E6A48F88}"/>
              </a:ext>
            </a:extLst>
          </p:cNvPr>
          <p:cNvSpPr/>
          <p:nvPr/>
        </p:nvSpPr>
        <p:spPr>
          <a:xfrm>
            <a:off x="1261872" y="475488"/>
            <a:ext cx="6693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1D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Certificates Earned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85BE086-5708-22CC-6E08-A1634EFF0305}"/>
              </a:ext>
            </a:extLst>
          </p:cNvPr>
          <p:cNvSpPr/>
          <p:nvPr/>
        </p:nvSpPr>
        <p:spPr>
          <a:xfrm>
            <a:off x="64008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953E34E-E573-BBF7-1DCE-302BE57514D4}"/>
              </a:ext>
            </a:extLst>
          </p:cNvPr>
          <p:cNvSpPr/>
          <p:nvPr/>
        </p:nvSpPr>
        <p:spPr>
          <a:xfrm>
            <a:off x="640080" y="1965960"/>
            <a:ext cx="109087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Credly certificate image here]</a:t>
            </a:r>
            <a:endParaRPr lang="en-US" sz="15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A5AFFD2-05B6-1E31-5EC9-F2AC45D1C839}"/>
              </a:ext>
            </a:extLst>
          </p:cNvPr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  ·  IBM Granite on watsonx.ai</a:t>
            </a:r>
            <a:endParaRPr lang="en-US" sz="9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9D8D642-52DB-D4C4-F002-43C618BADB9C}"/>
              </a:ext>
            </a:extLst>
          </p:cNvPr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43A6F7-9ECE-9B66-1CA0-36980C4CEE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69" t="2547"/>
          <a:stretch>
            <a:fillRect/>
          </a:stretch>
        </p:blipFill>
        <p:spPr>
          <a:xfrm>
            <a:off x="2144950" y="899443"/>
            <a:ext cx="7364214" cy="548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119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457200"/>
          </a:xfrm>
          <a:prstGeom prst="ellipse">
            <a:avLst/>
          </a:prstGeom>
          <a:solidFill>
            <a:srgbClr val="1F3B2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75488"/>
            <a:ext cx="6693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1D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Certificates Earned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109087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  ·  IBM Granite on watsonx.ai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5D0F2F-6275-53F0-18A0-CF50AEB7C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3139" y="1078302"/>
            <a:ext cx="7245722" cy="520720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57200" cy="457200"/>
          </a:xfrm>
          <a:prstGeom prst="ellipse">
            <a:avLst/>
          </a:prstGeom>
          <a:solidFill>
            <a:srgbClr val="1F3B2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475488"/>
            <a:ext cx="6693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Certificates Earned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BOB Certificate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109087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IBM BOB certificate image here]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  ·  IBM Granite on watsonx.ai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AD2B92-B772-B55D-A6D1-1237718758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78" t="3238"/>
          <a:stretch>
            <a:fillRect/>
          </a:stretch>
        </p:blipFill>
        <p:spPr>
          <a:xfrm>
            <a:off x="2607810" y="1828800"/>
            <a:ext cx="6854460" cy="423092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822960" y="274320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22960" y="37033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LearnMate — built on IBM Cloud Lite and IBM Granite via watsonx.ai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22960" y="429768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github.com/Theertha1507/learnmate-backend  ·  github.com/Theertha1507/learnmate-frontend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316</TotalTime>
  <Words>1577</Words>
  <Application>Microsoft Office PowerPoint</Application>
  <PresentationFormat>Widescreen</PresentationFormat>
  <Paragraphs>197</Paragraphs>
  <Slides>23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LearnMate - IBM University Engagement Project Submission</dc:title>
  <dc:subject>PptxGenJS Presentation</dc:subject>
  <dc:creator>Theertha P Nair</dc:creator>
  <cp:lastModifiedBy>Theertha P Nair</cp:lastModifiedBy>
  <cp:revision>6</cp:revision>
  <dcterms:created xsi:type="dcterms:W3CDTF">2026-07-04T02:35:33Z</dcterms:created>
  <dcterms:modified xsi:type="dcterms:W3CDTF">2026-07-09T04:43:07Z</dcterms:modified>
</cp:coreProperties>
</file>